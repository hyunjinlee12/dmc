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Slab side view — S1: Pd(100) (Pd⁰)</a:t>
            </a:r>
          </a:p>
        </p:txBody>
      </p:sp>
      <p:pic>
        <p:nvPicPr>
          <p:cNvPr id="3" name="Picture 2" descr="S1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972026"/>
            <a:ext cx="11430000" cy="54625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Slab side view — S2: 1ML PdO(101)/Pd(100) (Pd⁰+Pd²⁺)</a:t>
            </a:r>
          </a:p>
        </p:txBody>
      </p:sp>
      <p:pic>
        <p:nvPicPr>
          <p:cNvPr id="3" name="Picture 2" descr="S2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" y="1067276"/>
            <a:ext cx="11430000" cy="52720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Slab side view — S3: O-rich PdO(100) (Pd²⁺)</a:t>
            </a:r>
          </a:p>
        </p:txBody>
      </p:sp>
      <p:pic>
        <p:nvPicPr>
          <p:cNvPr id="3" name="Picture 2" descr="S3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904" y="822960"/>
            <a:ext cx="1009914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Slab side view — S3b: Pd-rich PdO(100) (Pd²⁺)</a:t>
            </a:r>
          </a:p>
        </p:txBody>
      </p:sp>
      <p:pic>
        <p:nvPicPr>
          <p:cNvPr id="3" name="Picture 2" descr="S3b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1" y="822960"/>
            <a:ext cx="1111392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Slab side view — S4: PdO₂(110) (Pd⁴⁺)</a:t>
            </a:r>
          </a:p>
        </p:txBody>
      </p:sp>
      <p:pic>
        <p:nvPicPr>
          <p:cNvPr id="3" name="Picture 2" descr="S4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69" y="822960"/>
            <a:ext cx="1032541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E_bind distribution — CO*</a:t>
            </a:r>
          </a:p>
        </p:txBody>
      </p:sp>
      <p:pic>
        <p:nvPicPr>
          <p:cNvPr id="3" name="Picture 2" descr="F13a_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35" y="822960"/>
            <a:ext cx="789368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E_bind distribution — CH₃O*</a:t>
            </a:r>
          </a:p>
        </p:txBody>
      </p:sp>
      <p:pic>
        <p:nvPicPr>
          <p:cNvPr id="3" name="Picture 2" descr="F13b_CH3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35" y="822960"/>
            <a:ext cx="789368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E_bind distribution — co-ads (CO* + CH₃O*)</a:t>
            </a:r>
          </a:p>
        </p:txBody>
      </p:sp>
      <p:pic>
        <p:nvPicPr>
          <p:cNvPr id="3" name="Picture 2" descr="F13c_c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70" y="822960"/>
            <a:ext cx="788581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Top-1 CO* — S1: Pd(100), Pd⁰</a:t>
            </a:r>
          </a:p>
        </p:txBody>
      </p:sp>
      <p:pic>
        <p:nvPicPr>
          <p:cNvPr id="3" name="Picture 2" descr="S1_CO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88" y="822960"/>
            <a:ext cx="948917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Top-1 CO* — S2: 1ML PdO(101)/Pd(100)</a:t>
            </a:r>
          </a:p>
        </p:txBody>
      </p:sp>
      <p:pic>
        <p:nvPicPr>
          <p:cNvPr id="3" name="Picture 2" descr="S2_CO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37" y="822960"/>
            <a:ext cx="10529876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Top-1 CO* — S3: O-rich PdO(100)</a:t>
            </a:r>
          </a:p>
        </p:txBody>
      </p:sp>
      <p:pic>
        <p:nvPicPr>
          <p:cNvPr id="3" name="Picture 2" descr="S3_CO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589" y="822960"/>
            <a:ext cx="8333772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Top-1 CO* — S3b: Pd-rich PdO(100)</a:t>
            </a:r>
          </a:p>
        </p:txBody>
      </p:sp>
      <p:pic>
        <p:nvPicPr>
          <p:cNvPr id="3" name="Picture 2" descr="S3b_CO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215" y="822960"/>
            <a:ext cx="903052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Top-1 CO* — S4: PdO₂(110), Pd⁴⁺</a:t>
            </a:r>
          </a:p>
        </p:txBody>
      </p:sp>
      <p:pic>
        <p:nvPicPr>
          <p:cNvPr id="3" name="Picture 2" descr="S4_CO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563" y="822960"/>
            <a:ext cx="891982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Top-1 CH₃O* — S1: Pd(100), Pd⁰</a:t>
            </a:r>
          </a:p>
        </p:txBody>
      </p:sp>
      <p:pic>
        <p:nvPicPr>
          <p:cNvPr id="3" name="Picture 2" descr="S1_CH3O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534" y="822960"/>
            <a:ext cx="958788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Top-1 CH₃O* — S2: 1ML PdO(101)/Pd(100)</a:t>
            </a:r>
          </a:p>
        </p:txBody>
      </p:sp>
      <p:pic>
        <p:nvPicPr>
          <p:cNvPr id="3" name="Picture 2" descr="S2_CH3O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38" y="822960"/>
            <a:ext cx="1038747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Top-1 CH₃O* — S3: O-rich PdO(100)</a:t>
            </a:r>
          </a:p>
        </p:txBody>
      </p:sp>
      <p:pic>
        <p:nvPicPr>
          <p:cNvPr id="3" name="Picture 2" descr="S3_CH3O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704" y="822960"/>
            <a:ext cx="803354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Top-1 CH₃O* — S3b: Pd-rich PdO(100)</a:t>
            </a:r>
          </a:p>
        </p:txBody>
      </p:sp>
      <p:pic>
        <p:nvPicPr>
          <p:cNvPr id="3" name="Picture 2" descr="S3b_CH3O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735" y="822960"/>
            <a:ext cx="98054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Top-1 CH₃O* — S4: PdO₂(110), Pd⁴⁺</a:t>
            </a:r>
          </a:p>
        </p:txBody>
      </p:sp>
      <p:pic>
        <p:nvPicPr>
          <p:cNvPr id="3" name="Picture 2" descr="S4_CH3O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330" y="822960"/>
            <a:ext cx="896029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